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3A8A"/>
                </a:solidFill>
                <a:latin typeface="Arial"/>
              </a:defRPr>
            </a:pPr>
            <a:r>
              <a:t>Test</a:t>
            </a:r>
          </a:p>
          <a:p>
            <a:pPr>
              <a:spcBef>
                <a:spcPts val="1000"/>
              </a:spcBef>
              <a:defRPr sz="2200">
                <a:solidFill>
                  <a:srgbClr val="64748B"/>
                </a:solidFill>
                <a:latin typeface="Arial"/>
              </a:defRPr>
            </a:pPr>
            <a:r>
              <a:t>Executive Summary Executive Business Deliverable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t>Author: Executive Intelligence Platform</a:t>
            </a:r>
          </a:p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t>Workspace: DEFAULT</a:t>
            </a:r>
          </a:p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t>Date: September 18, 2026</a:t>
            </a:r>
          </a:p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t>Confidence Score: 95.0%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t>Executive Insights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•  Overall financial performance indicates primary metric volume of $1.45M with a +13.6% trajectory [SRC-KPI-1].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•  Operating margins maintain stability at 100 [SRC-KPI-2], reflecting disciplined capital allocation.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•  Machine learning anomaly scanning detected 0 variance spikes requiring operational monitoring [SRC-ANOM-1].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•  The ARIMA(1,1,1) model projects a downward trend over the next 6 Months, with forecast revenue reaching approximately $2,296.75 by 2026-11-01 [SRC-FC-1].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t>Key Performance Indicators (KPIs)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2286000" cy="32004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0"/>
              </a:spcAft>
              <a:defRPr sz="1400" b="1">
                <a:solidFill>
                  <a:srgbClr val="64748B"/>
                </a:solidFill>
                <a:latin typeface="Arial"/>
              </a:defRPr>
            </a:pPr>
            <a:r>
              <a:t>Total Revenue</a:t>
            </a:r>
          </a:p>
          <a:p>
            <a:pPr algn="ctr">
              <a:spcAft>
                <a:spcPts val="2400"/>
              </a:spcAft>
              <a:defRPr sz="2600" b="1">
                <a:solidFill>
                  <a:srgbClr val="1E3A8A"/>
                </a:solidFill>
                <a:latin typeface="Arial"/>
              </a:defRPr>
            </a:pPr>
            <a:r>
              <a:t>$1.45M</a:t>
            </a:r>
          </a:p>
          <a:p>
            <a:pPr algn="ctr">
              <a:defRPr sz="1300" b="1">
                <a:solidFill>
                  <a:srgbClr val="10B981"/>
                </a:solidFill>
                <a:latin typeface="Arial"/>
              </a:defRPr>
            </a:pPr>
            <a:r>
              <a:t>+13.6%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1828800"/>
            <a:ext cx="2286000" cy="32004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201168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0"/>
              </a:spcAft>
              <a:defRPr sz="1400" b="1">
                <a:solidFill>
                  <a:srgbClr val="64748B"/>
                </a:solidFill>
                <a:latin typeface="Arial"/>
              </a:defRPr>
            </a:pPr>
            <a:r>
              <a:t>Total Orders</a:t>
            </a:r>
          </a:p>
          <a:p>
            <a:pPr algn="ctr">
              <a:spcAft>
                <a:spcPts val="2400"/>
              </a:spcAft>
              <a:defRPr sz="2600" b="1">
                <a:solidFill>
                  <a:srgbClr val="1E3A8A"/>
                </a:solidFill>
                <a:latin typeface="Arial"/>
              </a:defRPr>
            </a:pPr>
            <a:r>
              <a:t>100</a:t>
            </a:r>
          </a:p>
          <a:p>
            <a:pPr algn="ctr">
              <a:defRPr sz="1300" b="1">
                <a:solidFill>
                  <a:srgbClr val="10B981"/>
                </a:solidFill>
                <a:latin typeface="Arial"/>
              </a:defRPr>
            </a:pPr>
            <a:r>
              <a:t>+11.1%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2286000" cy="32004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201168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0"/>
              </a:spcAft>
              <a:defRPr sz="1400" b="1">
                <a:solidFill>
                  <a:srgbClr val="64748B"/>
                </a:solidFill>
                <a:latin typeface="Arial"/>
              </a:defRPr>
            </a:pPr>
            <a:r>
              <a:t>Average Order Value</a:t>
            </a:r>
          </a:p>
          <a:p>
            <a:pPr algn="ctr">
              <a:spcAft>
                <a:spcPts val="2400"/>
              </a:spcAft>
              <a:defRPr sz="2600" b="1">
                <a:solidFill>
                  <a:srgbClr val="1E3A8A"/>
                </a:solidFill>
                <a:latin typeface="Arial"/>
              </a:defRPr>
            </a:pPr>
            <a:r>
              <a:t>$14500.00</a:t>
            </a:r>
          </a:p>
          <a:p>
            <a:pPr algn="ctr">
              <a:defRPr sz="1300" b="1">
                <a:solidFill>
                  <a:srgbClr val="10B981"/>
                </a:solidFill>
                <a:latin typeface="Arial"/>
              </a:defRPr>
            </a:pPr>
            <a:r>
              <a:t>+4.2%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1828800"/>
            <a:ext cx="2286000" cy="32004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0" y="201168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0"/>
              </a:spcAft>
              <a:defRPr sz="1400" b="1">
                <a:solidFill>
                  <a:srgbClr val="64748B"/>
                </a:solidFill>
                <a:latin typeface="Arial"/>
              </a:defRPr>
            </a:pPr>
            <a:r>
              <a:t>Freight &amp; Delivery Value</a:t>
            </a:r>
          </a:p>
          <a:p>
            <a:pPr algn="ctr">
              <a:spcAft>
                <a:spcPts val="2400"/>
              </a:spcAft>
              <a:defRPr sz="2600" b="1">
                <a:solidFill>
                  <a:srgbClr val="1E3A8A"/>
                </a:solidFill>
                <a:latin typeface="Arial"/>
              </a:defRPr>
            </a:pPr>
            <a:r>
              <a:t>$120,000.00</a:t>
            </a:r>
          </a:p>
          <a:p>
            <a:pPr algn="ctr">
              <a:defRPr sz="1300" b="1">
                <a:solidFill>
                  <a:srgbClr val="10B981"/>
                </a:solidFill>
                <a:latin typeface="Arial"/>
              </a:defRPr>
            </a:pPr>
            <a:r>
              <a:t>+8.7%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t>Dashboard Snapshot &amp; Trend Analysis</a:t>
            </a:r>
          </a:p>
        </p:txBody>
      </p:sp>
      <p:pic>
        <p:nvPicPr>
          <p:cNvPr id="3" name="Picture 2" descr="snapshot-9e1f3797-3e14-4526-8302-1166ae818c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8580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46720" y="164592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600">
                <a:solidFill>
                  <a:srgbClr val="3B82F6"/>
                </a:solidFill>
              </a:defRPr>
            </a:pPr>
            <a:r>
              <a:t>Analytical Observations: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Dashboard snapshots verify stable growth patterns across metrics.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KPI aggregates display healthy margin performance.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Forecasting models maintain confidence interval alignment.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t>Strategic Recommendations &amp; Action Plan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103628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0"/>
                <a:gridCol w="1676095"/>
                <a:gridCol w="1828800"/>
              </a:tblGrid>
              <a:tr h="1028700">
                <a:tc>
                  <a:txBody>
                    <a:bodyPr/>
                    <a:lstStyle/>
                    <a:p>
                      <a:pPr algn="l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Strategic Action / Recommendation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Owner / Team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Investigate the top outlier transactions identified on peak date and reconcile with gateway logs.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3A8A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Finance &amp; Risk Operations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Initiate proactive quarterly account reviews for the High-Tier Cohort customer cohort.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3A8A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Customer Success &amp; Enterprise Sales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Align Q4 operational inventory and staffing capacity with 30-day upward forecast trajectory.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3A8A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Supply Chain &amp; Operations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