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64E3B"/>
                </a:solidFill>
                <a:latin typeface="Arial"/>
              </a:defRPr>
            </a:pPr>
            <a:r>
              <a:t>Q3 Financial Performance Deck</a:t>
            </a:r>
          </a:p>
          <a:p>
            <a:pPr>
              <a:spcBef>
                <a:spcPts val="1000"/>
              </a:spcBef>
              <a:defRPr sz="2200">
                <a:solidFill>
                  <a:srgbClr val="64748B"/>
                </a:solidFill>
                <a:latin typeface="Arial"/>
              </a:defRPr>
            </a:pPr>
            <a:r>
              <a:t>Finance Executive Business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Author: saad@example.com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Workspace: SALES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Date: August 04, 2026</a:t>
            </a:r>
          </a:p>
          <a:p>
            <a:pPr>
              <a:spcAft>
                <a:spcPts val="400"/>
              </a:spcAft>
              <a:defRPr sz="1300">
                <a:solidFill>
                  <a:srgbClr val="475569"/>
                </a:solidFill>
                <a:latin typeface="Arial"/>
              </a:defRPr>
            </a:pPr>
            <a:r>
              <a:t>Confidence Score: 96.0%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Executive Insights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 Overall quarterly revenue has exceeded projection boundaries by 4.2%.</a:t>
            </a:r>
          </a:p>
          <a:p>
            <a:pPr>
              <a:spcAft>
                <a:spcPts val="20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 Machine learning churn classifier confirms customer retention rates are stable.</a:t>
            </a:r>
          </a:p>
          <a:p>
            <a:pPr>
              <a:spcAft>
                <a:spcPts val="2000"/>
              </a:spcAft>
              <a:defRPr sz="1800">
                <a:solidFill>
                  <a:srgbClr val="0F172A"/>
                </a:solidFill>
                <a:latin typeface="Arial"/>
              </a:defRPr>
            </a:pPr>
            <a:r>
              <a:t>•  Strategic priorities advise target coupon allocation inside West user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Business Metric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Gross Revenue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064E3B"/>
                </a:solidFill>
                <a:latin typeface="Arial"/>
              </a:defRPr>
            </a:pPr>
            <a:r>
              <a:t>$1,452,000.00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+12.4% MoM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28600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Acquisition Cost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064E3B"/>
                </a:solidFill>
                <a:latin typeface="Arial"/>
              </a:defRPr>
            </a:pPr>
            <a:r>
              <a:t>$210,480.00</a:t>
            </a:r>
          </a:p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-4.8% MoM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28600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Churn Rate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064E3B"/>
                </a:solidFill>
                <a:latin typeface="Arial"/>
              </a:defRPr>
            </a:pPr>
            <a:r>
              <a:t>11.2%</a:t>
            </a:r>
          </a:p>
          <a:p>
            <a:pPr algn="ctr">
              <a:defRPr sz="1300" b="1">
                <a:solidFill>
                  <a:srgbClr val="EF4444"/>
                </a:solidFill>
                <a:latin typeface="Arial"/>
              </a:defRPr>
            </a:pPr>
            <a:r>
              <a:t>-1.5% MoM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28600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011680"/>
            <a:ext cx="210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0"/>
              </a:spcAft>
              <a:defRPr sz="1400" b="1">
                <a:solidFill>
                  <a:srgbClr val="64748B"/>
                </a:solidFill>
                <a:latin typeface="Arial"/>
              </a:defRPr>
            </a:pPr>
            <a:r>
              <a:t>Query Match RAG</a:t>
            </a:r>
          </a:p>
          <a:p>
            <a:pPr algn="ctr">
              <a:spcAft>
                <a:spcPts val="2400"/>
              </a:spcAft>
              <a:defRPr sz="2800" b="1">
                <a:solidFill>
                  <a:srgbClr val="064E3B"/>
                </a:solidFill>
                <a:latin typeface="Arial"/>
              </a:defRPr>
            </a:pPr>
            <a:r>
              <a:t>96.4%</a:t>
            </a:r>
          </a:p>
          <a:p>
            <a:pPr algn="ctr">
              <a:defRPr sz="1300" b="1">
                <a:solidFill>
                  <a:srgbClr val="10B981"/>
                </a:solidFill>
                <a:latin typeface="Arial"/>
              </a:defRPr>
            </a:pPr>
            <a:r>
              <a:t>+0.8% MoM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Dashboard Snapshot &amp; Trend Analysis</a:t>
            </a:r>
          </a:p>
        </p:txBody>
      </p:sp>
      <p:pic>
        <p:nvPicPr>
          <p:cNvPr id="3" name="Picture 2" descr="sample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858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16459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10B981"/>
                </a:solidFill>
              </a:defRPr>
            </a:pPr>
            <a:r>
              <a:t>Analytical Observations: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- Dashboard snapshots verify a steady growth pattern.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- KPI aggregates display stable operational margins across all segments.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- Forecasting models maintain positive Q4 trends with 95% confidence intervals.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64E3B"/>
                </a:solidFill>
              </a:defRPr>
            </a:pPr>
            <a:r>
              <a:t>Strategic Recommendations &amp; Action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1676095"/>
                <a:gridCol w="1828800"/>
              </a:tblGrid>
              <a:tr h="13716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Strategic Recommendation / Insight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Confidence Score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West region displays high churn risk user groups. Push marketing campaigns.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64E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Maintain margins by coordinating inventory supply to match 8% growth projections.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64E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